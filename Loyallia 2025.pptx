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Light" panose="020B060402020202020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6D6092-765B-4CEC-ABEF-B2EEAAD413FC}">
  <a:tblStyle styleId="{336D6092-765B-4CEC-ABEF-B2EEAAD413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4499" y="4516044"/>
            <a:ext cx="1143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333383" y="4740343"/>
            <a:ext cx="7525232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A1A1AA"/>
                </a:solidFill>
                <a:latin typeface="Inter Light"/>
                <a:ea typeface="Inter Light"/>
                <a:cs typeface="Inter Light"/>
                <a:sym typeface="Inter Light"/>
              </a:rPr>
              <a:t>Plataforma </a:t>
            </a:r>
            <a:r>
              <a:rPr lang="en-US" sz="2400" dirty="0" err="1">
                <a:solidFill>
                  <a:srgbClr val="A1A1AA"/>
                </a:solidFill>
                <a:latin typeface="Inter Light"/>
                <a:ea typeface="Inter Light"/>
                <a:cs typeface="Inter Light"/>
                <a:sym typeface="Inter Light"/>
              </a:rPr>
              <a:t>inteligente</a:t>
            </a:r>
            <a:r>
              <a:rPr lang="en-US" sz="2400" dirty="0">
                <a:solidFill>
                  <a:srgbClr val="A1A1AA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2400" dirty="0" err="1">
                <a:solidFill>
                  <a:srgbClr val="A1A1AA"/>
                </a:solidFill>
                <a:latin typeface="Inter Light"/>
                <a:ea typeface="Inter Light"/>
                <a:cs typeface="Inter Light"/>
                <a:sym typeface="Inter Light"/>
              </a:rPr>
              <a:t>fidelización</a:t>
            </a:r>
            <a:r>
              <a:rPr lang="en-US" sz="2400" dirty="0">
                <a:solidFill>
                  <a:srgbClr val="A1A1AA"/>
                </a:solidFill>
                <a:latin typeface="Inter Light"/>
                <a:ea typeface="Inter Light"/>
                <a:cs typeface="Inter Light"/>
                <a:sym typeface="Inter Light"/>
              </a:rPr>
              <a:t> digital</a:t>
            </a:r>
            <a:r>
              <a:rPr lang="en-US" sz="2400" b="0" i="0" u="none" strike="noStrike" cap="none" dirty="0">
                <a:solidFill>
                  <a:srgbClr val="A1A1AA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A6B3DCE-384B-4E18-19FF-E81647DBF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599" y="1253727"/>
            <a:ext cx="4114800" cy="37451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C787B44F-34F0-EFE2-5921-F4C62CA320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27907"/>
            <a:ext cx="10668000" cy="346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95300" y="571500"/>
            <a:ext cx="11201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Plan de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Lealtad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Digital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914400" y="1917489"/>
            <a:ext cx="10363200" cy="368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1650" dirty="0" err="1">
                <a:solidFill>
                  <a:srgbClr val="A1A1AA"/>
                </a:solidFill>
                <a:latin typeface="Inter"/>
                <a:ea typeface="Inter"/>
              </a:rPr>
              <a:t>Loyallia</a:t>
            </a:r>
            <a:r>
              <a:rPr lang="es-ES" sz="1650" dirty="0">
                <a:solidFill>
                  <a:srgbClr val="A1A1AA"/>
                </a:solidFill>
                <a:latin typeface="Inter"/>
                <a:ea typeface="Inter"/>
              </a:rPr>
              <a:t> transforma la fidelización tradicional en una experiencia digital conectada, donde cada interacción del cliente puede ser gestionada, analizada y optimizada en tiempo real. Esto permite a los negocios no solo retener clientes, sino entender su comportamiento y adaptar sus estrategias de forma dinámica.</a:t>
            </a:r>
          </a:p>
          <a:p>
            <a:pPr lvl="0">
              <a:lnSpc>
                <a:spcPct val="140000"/>
              </a:lnSpc>
            </a:pPr>
            <a:endParaRPr lang="es-ES" sz="1650" dirty="0">
              <a:solidFill>
                <a:srgbClr val="A1A1AA"/>
              </a:solidFill>
              <a:latin typeface="Inter"/>
              <a:ea typeface="Inter"/>
            </a:endParaRPr>
          </a:p>
          <a:p>
            <a:pPr>
              <a:lnSpc>
                <a:spcPct val="140000"/>
              </a:lnSpc>
            </a:pPr>
            <a:r>
              <a:rPr lang="es-ES" sz="1650" dirty="0" err="1">
                <a:solidFill>
                  <a:srgbClr val="A1A1AA"/>
                </a:solidFill>
                <a:latin typeface="Inter"/>
                <a:ea typeface="Inter"/>
              </a:rPr>
              <a:t>Loyallia</a:t>
            </a:r>
            <a:r>
              <a:rPr lang="es-ES" sz="1650" dirty="0">
                <a:solidFill>
                  <a:srgbClr val="A1A1AA"/>
                </a:solidFill>
                <a:latin typeface="Inter"/>
                <a:ea typeface="Inter"/>
              </a:rPr>
              <a:t> ofrece una solución que conecta de forma directa todos los puntos de interacción con el cliente, facilitando la comunicación y simplificando la gestión del programa. A través de una plataforma centralizada, el negocio puede operar de manera más eficiente y mantener una relación constante con sus clientes.</a:t>
            </a:r>
          </a:p>
          <a:p>
            <a:pPr lvl="0">
              <a:lnSpc>
                <a:spcPct val="140000"/>
              </a:lnSpc>
            </a:pPr>
            <a:endParaRPr lang="es-ES" sz="1650" dirty="0">
              <a:solidFill>
                <a:srgbClr val="A1A1AA"/>
              </a:solidFill>
              <a:latin typeface="Inter"/>
              <a:ea typeface="Inter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F00C02-8087-E3C4-90E3-A3CA6FA0E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0625" y="98323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084315"/>
            <a:ext cx="3365450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3084315"/>
            <a:ext cx="3365450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3084315"/>
            <a:ext cx="3365450" cy="32021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111095" y="3581670"/>
            <a:ext cx="2713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Instalación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1175705" y="4271487"/>
            <a:ext cx="25844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Utiliza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tecnología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nativa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de Apple Wallet y Google Pay sin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aplicaciones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extra.</a:t>
            </a:r>
            <a:endParaRPr dirty="0"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3725" y="3474840"/>
            <a:ext cx="25844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4739115" y="3581670"/>
            <a:ext cx="2713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Canal Directo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4803725" y="4271487"/>
            <a:ext cx="25844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Comunicación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100%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directa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automatizada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base de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clientes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registrados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4925" y="3474840"/>
            <a:ext cx="25844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454925" y="3581670"/>
            <a:ext cx="2713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Fácil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Gestión</a:t>
            </a: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8431895" y="4213935"/>
            <a:ext cx="2584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Sencillo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cliente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potente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negocio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nuestra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Scanner App.</a:t>
            </a:r>
            <a:endParaRPr dirty="0"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351294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03725" y="351294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351294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20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¿POR QUÉ ELEGIR LOYALLIA?</a:t>
            </a:r>
            <a:endParaRPr dirty="0"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A38386AE-2261-C151-4063-B48B97438E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879" y="1238475"/>
            <a:ext cx="10806092" cy="15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EB2B9B7-5358-1146-0AC9-559002485067}"/>
              </a:ext>
            </a:extLst>
          </p:cNvPr>
          <p:cNvSpPr txBox="1"/>
          <p:nvPr/>
        </p:nvSpPr>
        <p:spPr>
          <a:xfrm>
            <a:off x="1124805" y="1232328"/>
            <a:ext cx="10318755" cy="147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1650" dirty="0" err="1">
                <a:solidFill>
                  <a:srgbClr val="A1A1AA"/>
                </a:solidFill>
                <a:latin typeface="Inter"/>
                <a:ea typeface="Inter"/>
              </a:rPr>
              <a:t>Loyallia</a:t>
            </a:r>
            <a:r>
              <a:rPr lang="es-ES" sz="1650" dirty="0">
                <a:solidFill>
                  <a:srgbClr val="A1A1AA"/>
                </a:solidFill>
                <a:latin typeface="Inter"/>
                <a:ea typeface="Inter"/>
              </a:rPr>
              <a:t> permite a los negocios evolucionar hacia un modelo de fidelización inteligente, donde la información del cliente, las interacciones y las promociones se integran en una sola plataforma. Esto facilita la toma de decisiones estratégicas, mejora la experiencia del cliente y genera un impacto directo en el crecimiento del negocio.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D190B4-4C9C-DADD-796F-225623084B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0625" y="98323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454747"/>
            <a:ext cx="2346870" cy="139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35709" y="3454747"/>
            <a:ext cx="2346870" cy="139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9419" y="3454747"/>
            <a:ext cx="2346870" cy="139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83129" y="3454747"/>
            <a:ext cx="2346870" cy="1396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762000" y="3962400"/>
            <a:ext cx="10668000" cy="1905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913354" y="3654772"/>
            <a:ext cx="204416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0080"/>
                </a:solidFill>
                <a:latin typeface="Poppins"/>
                <a:ea typeface="Poppins"/>
                <a:cs typeface="Poppins"/>
                <a:sym typeface="Poppins"/>
              </a:rPr>
              <a:t>Paso 1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62025" y="4064347"/>
            <a:ext cx="194682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cliente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saca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celular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local.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3687064" y="3654772"/>
            <a:ext cx="204416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0080"/>
                </a:solidFill>
                <a:latin typeface="Poppins"/>
                <a:ea typeface="Poppins"/>
                <a:cs typeface="Poppins"/>
                <a:sym typeface="Poppins"/>
              </a:rPr>
              <a:t>Paso 2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735734" y="4064347"/>
            <a:ext cx="194682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Escanea el código QR del negocio.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460774" y="3654772"/>
            <a:ext cx="204416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0080"/>
                </a:solidFill>
                <a:latin typeface="Poppins"/>
                <a:ea typeface="Poppins"/>
                <a:cs typeface="Poppins"/>
                <a:sym typeface="Poppins"/>
              </a:rPr>
              <a:t>Paso 3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509444" y="4064347"/>
            <a:ext cx="194682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Ingresa sus datos y acepta.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234483" y="3654772"/>
            <a:ext cx="204416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0080"/>
                </a:solidFill>
                <a:latin typeface="Poppins"/>
                <a:ea typeface="Poppins"/>
                <a:cs typeface="Poppins"/>
                <a:sym typeface="Poppins"/>
              </a:rPr>
              <a:t>Paso 4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283154" y="4064347"/>
            <a:ext cx="194682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La tarjeta se guarda en su Wallet.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3855720" y="561974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VIAJE DEL CLIENTE</a:t>
            </a:r>
            <a:endParaRPr dirty="0"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C9AFF0C5-9A2E-856D-56AC-474C1D3B0A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2954" y="1447799"/>
            <a:ext cx="10806092" cy="15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D396432-4CDA-2AF8-D1D7-61F84F5DBC77}"/>
              </a:ext>
            </a:extLst>
          </p:cNvPr>
          <p:cNvSpPr txBox="1"/>
          <p:nvPr/>
        </p:nvSpPr>
        <p:spPr>
          <a:xfrm>
            <a:off x="911294" y="1597634"/>
            <a:ext cx="10318755" cy="112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1650" dirty="0">
                <a:solidFill>
                  <a:srgbClr val="A1A1AA"/>
                </a:solidFill>
                <a:latin typeface="Inter"/>
                <a:ea typeface="Inter"/>
              </a:rPr>
              <a:t>Cada etapa del recorrido del cliente está diseñada para integrarse dentro de una experiencia digital fluida, donde la afiliación, el uso de beneficios y la interacción con la marca ocurren de manera rápida, simple y conectada con el resto de los canales del negocio.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469560-FB74-CD3E-0385-2890B584A9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358705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19275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2486948"/>
            <a:ext cx="504825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1650" dirty="0" err="1">
                <a:solidFill>
                  <a:srgbClr val="A1A1AA"/>
                </a:solidFill>
                <a:latin typeface="Inter"/>
                <a:ea typeface="Inter"/>
              </a:rPr>
              <a:t>Loyallia</a:t>
            </a:r>
            <a:r>
              <a:rPr lang="es-ES" sz="1650" dirty="0">
                <a:solidFill>
                  <a:srgbClr val="A1A1AA"/>
                </a:solidFill>
                <a:latin typeface="Inter"/>
                <a:ea typeface="Inter"/>
              </a:rPr>
              <a:t> permite gestionar la interacción con el cliente en tiempo real, integrando la validación de transacciones, el control de beneficios y el registro de actividad dentro de una misma plataforma. Esto mejora la eficiencia operativa y reduce errores en la gestión del programa.</a:t>
            </a:r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0" y="1838325"/>
            <a:ext cx="5029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62000" y="4199483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Validación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instantánea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4635698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Prevención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fraude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071913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Historial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transacciones</a:t>
            </a:r>
            <a:endParaRPr dirty="0"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23282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66903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5105251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5715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SCANNER APP PARA NEGOCIOS</a:t>
            </a: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3A7969F-78A7-2F28-7918-9FA86D8158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0625" y="98323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62000" y="7620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NOTIFICACIONES PUSH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47700" y="213360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Impacto </a:t>
            </a:r>
            <a:r>
              <a:rPr lang="en-US" sz="1404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Inmediato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647700" y="2689638"/>
            <a:ext cx="4572000" cy="248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s-ES" sz="1650" dirty="0">
                <a:solidFill>
                  <a:srgbClr val="A1A1AA"/>
                </a:solidFill>
                <a:latin typeface="Inter"/>
                <a:ea typeface="Inter"/>
              </a:rPr>
              <a:t>La plataforma permite establecer una comunicación directa, inmediata y altamente relevante con el cliente. Cada mensaje puede ser adaptado según el contexto, el comportamiento y la actividad del usuario, aumentando significativamente la efectividad de las campañas.</a:t>
            </a:r>
            <a:endParaRPr sz="1650" dirty="0">
              <a:solidFill>
                <a:srgbClr val="A1A1AA"/>
              </a:solidFill>
              <a:latin typeface="Inter"/>
              <a:ea typeface="Inter"/>
            </a:endParaRPr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482EC73-D4DA-9269-191A-9BD84FFE4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3114" y="5461398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38326"/>
            <a:ext cx="504825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4467076"/>
            <a:ext cx="50482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Retención de Clientes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362700" y="2446689"/>
            <a:ext cx="53006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Basado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Comportamiento</a:t>
            </a:r>
            <a:endParaRPr sz="1800"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6381750" y="2890126"/>
            <a:ext cx="5048250" cy="248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1650" dirty="0" err="1">
                <a:solidFill>
                  <a:srgbClr val="A1A1AA"/>
                </a:solidFill>
                <a:latin typeface="Inter"/>
                <a:ea typeface="Inter"/>
              </a:rPr>
              <a:t>Loyallia</a:t>
            </a:r>
            <a:r>
              <a:rPr lang="es-ES" sz="1650" dirty="0">
                <a:solidFill>
                  <a:srgbClr val="A1A1AA"/>
                </a:solidFill>
                <a:latin typeface="Inter"/>
                <a:ea typeface="Inter"/>
              </a:rPr>
              <a:t> automatiza la relación con el cliente mediante reglas basadas en comportamiento, historial de consumo y frecuencia de interacción. Esto permite ejecutar acciones estratégicas sin intervención manual, optimizando el tiempo del negocio y aumentando la efectividad de la fidelización.</a:t>
            </a:r>
            <a:endParaRPr sz="1650" dirty="0">
              <a:solidFill>
                <a:srgbClr val="A1A1AA"/>
              </a:solidFill>
              <a:latin typeface="Inter"/>
              <a:ea typeface="Inter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5715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AUTOMATIZACIÓN INTELIGENTE</a:t>
            </a: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797A5BF-18B0-D4FA-095B-566897995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625" y="98323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37560"/>
            <a:ext cx="3365450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3337560"/>
            <a:ext cx="3365450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393593"/>
            <a:ext cx="3365450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3784118"/>
            <a:ext cx="25844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1087840" y="3809896"/>
            <a:ext cx="2713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Estampilla</a:t>
            </a:r>
            <a:endParaRPr dirty="0"/>
          </a:p>
        </p:txBody>
      </p:sp>
      <p:sp>
        <p:nvSpPr>
          <p:cNvPr id="185" name="Google Shape;185;p20"/>
          <p:cNvSpPr txBox="1"/>
          <p:nvPr/>
        </p:nvSpPr>
        <p:spPr>
          <a:xfrm>
            <a:off x="1087915" y="4312808"/>
            <a:ext cx="25844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clásica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estrategia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"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Compre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9 y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obtenga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10". Ideal para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cafeterías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restaurantes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03725" y="3784118"/>
            <a:ext cx="25844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4739040" y="3809896"/>
            <a:ext cx="2713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Cashback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739115" y="4368841"/>
            <a:ext cx="2584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Crédito acumulable para incentivar la próxima compra del cliente.</a:t>
            </a:r>
            <a:endParaRPr/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54925" y="3784118"/>
            <a:ext cx="25844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8390390" y="3809896"/>
            <a:ext cx="27136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Cupón</a:t>
            </a:r>
            <a:endParaRPr dirty="0"/>
          </a:p>
        </p:txBody>
      </p:sp>
      <p:sp>
        <p:nvSpPr>
          <p:cNvPr id="191" name="Google Shape;191;p20"/>
          <p:cNvSpPr txBox="1"/>
          <p:nvPr/>
        </p:nvSpPr>
        <p:spPr>
          <a:xfrm>
            <a:off x="8390315" y="4368841"/>
            <a:ext cx="25844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Ideal para captar nuevos clientes con ofertas de un solo uso de alta conversión.</a:t>
            </a:r>
            <a:endParaRPr/>
          </a:p>
        </p:txBody>
      </p:sp>
      <p:pic>
        <p:nvPicPr>
          <p:cNvPr id="192" name="Google Shape;19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27899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03725" y="278993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278993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62000" y="5715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TIPOS DE TARJETAS DIGITALES</a:t>
            </a:r>
            <a:endParaRPr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D84D0139-D04F-963F-97FE-D719014373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2954" y="1423928"/>
            <a:ext cx="10806092" cy="15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7881789-4E88-A1DE-DA6E-8E89124DA6CB}"/>
              </a:ext>
            </a:extLst>
          </p:cNvPr>
          <p:cNvSpPr txBox="1"/>
          <p:nvPr/>
        </p:nvSpPr>
        <p:spPr>
          <a:xfrm>
            <a:off x="1152525" y="1727270"/>
            <a:ext cx="97688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 err="1">
                <a:solidFill>
                  <a:srgbClr val="A1A1AA"/>
                </a:solidFill>
                <a:latin typeface="Inter"/>
                <a:ea typeface="Inter"/>
              </a:rPr>
              <a:t>Loyallia</a:t>
            </a:r>
            <a:r>
              <a:rPr lang="es-ES" sz="1800" dirty="0">
                <a:solidFill>
                  <a:srgbClr val="A1A1AA"/>
                </a:solidFill>
                <a:latin typeface="Inter"/>
                <a:ea typeface="Inter"/>
              </a:rPr>
              <a:t> permite implementar múltiples modelos de fidelización que pueden combinarse y adaptarse a diferentes estrategias comerciales. Esto brinda flexibilidad para diseñar programas que respondan a distintos perfiles de clientes y objetivos de negocio.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7E21A9-FF77-AE80-26EA-C983F57F9F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0625" y="98323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740" y="2794754"/>
            <a:ext cx="5143500" cy="1910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94754"/>
            <a:ext cx="5143500" cy="1910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826377"/>
            <a:ext cx="5143500" cy="1910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826377"/>
            <a:ext cx="5143500" cy="191065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1142265" y="3185279"/>
            <a:ext cx="458057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Membresías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VIP</a:t>
            </a:r>
            <a:endParaRPr dirty="0"/>
          </a:p>
        </p:txBody>
      </p:sp>
      <p:sp>
        <p:nvSpPr>
          <p:cNvPr id="206" name="Google Shape;206;p21"/>
          <p:cNvSpPr txBox="1"/>
          <p:nvPr/>
        </p:nvSpPr>
        <p:spPr>
          <a:xfrm>
            <a:off x="1142265" y="3728204"/>
            <a:ext cx="4362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Cree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clubes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fidelidad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pagos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adelantado 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ingresos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recurrentes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7" name="Google Shape;207;p21"/>
          <p:cNvSpPr txBox="1"/>
          <p:nvPr/>
        </p:nvSpPr>
        <p:spPr>
          <a:xfrm>
            <a:off x="6677025" y="3185279"/>
            <a:ext cx="458057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Descuento Corporativo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77025" y="3728204"/>
            <a:ext cx="4362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Ventas al por mayor con descuentos inteligentes aplicados al Wallet.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152525" y="5216902"/>
            <a:ext cx="458057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Certificados de Regalo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152525" y="5759827"/>
            <a:ext cx="4362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Incremente su base de clientes con obsequios prepagos digitales.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677025" y="5216902"/>
            <a:ext cx="458057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 de Referidos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677025" y="5759827"/>
            <a:ext cx="43624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Haga que sus clientes traigan nuevos clientes automáticamente.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33400" y="175453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FLEXIBILIDAD Y CRECIMIENTO</a:t>
            </a:r>
            <a:endParaRPr dirty="0"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3039441E-C7C6-7E36-03E7-1680D5F667B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908" y="943432"/>
            <a:ext cx="10537095" cy="15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4A1DB45-7C10-99D4-FF2A-38763EB113F3}"/>
              </a:ext>
            </a:extLst>
          </p:cNvPr>
          <p:cNvSpPr txBox="1"/>
          <p:nvPr/>
        </p:nvSpPr>
        <p:spPr>
          <a:xfrm>
            <a:off x="842248" y="1093267"/>
            <a:ext cx="10318755" cy="112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1650" dirty="0">
                <a:solidFill>
                  <a:srgbClr val="A1A1AA"/>
                </a:solidFill>
                <a:latin typeface="Inter"/>
                <a:ea typeface="Inter"/>
              </a:rPr>
              <a:t>La plataforma está diseñada para integrarse con diferentes canales de venta y operación del negocio, permitiendo una gestión unificada de promociones, clientes y beneficios. Esto facilita la expansión del programa de fidelización sin aumentar la complejidad operativa.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94F778-8811-31CA-C375-661B98B31D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6694" y="-26813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38300"/>
            <a:ext cx="10668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762000" y="5720655"/>
            <a:ext cx="10668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Seguimiento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tiempo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real de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retención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ganancias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demografía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650" b="0" i="1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cliente</a:t>
            </a:r>
            <a:r>
              <a:rPr lang="en-US" sz="1650" b="0" i="1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762000" y="571500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ANÁLISIS Y ESTADÍSTICAS</a:t>
            </a:r>
            <a:endParaRPr dirty="0"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234637C6-E619-D43C-49A0-F6C91C3CF9F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2954" y="1447798"/>
            <a:ext cx="4854407" cy="26517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ECC8B5D-66E8-B9F7-10F4-2C2FEAF7A402}"/>
              </a:ext>
            </a:extLst>
          </p:cNvPr>
          <p:cNvSpPr txBox="1"/>
          <p:nvPr/>
        </p:nvSpPr>
        <p:spPr>
          <a:xfrm>
            <a:off x="911295" y="1597634"/>
            <a:ext cx="46360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 err="1">
                <a:solidFill>
                  <a:srgbClr val="A1A1AA"/>
                </a:solidFill>
                <a:latin typeface="Inter"/>
                <a:ea typeface="Inter"/>
              </a:rPr>
              <a:t>Loyallia</a:t>
            </a:r>
            <a:r>
              <a:rPr lang="es-ES" sz="1800" dirty="0">
                <a:solidFill>
                  <a:srgbClr val="A1A1AA"/>
                </a:solidFill>
                <a:latin typeface="Inter"/>
                <a:ea typeface="Inter"/>
              </a:rPr>
              <a:t> centraliza la información de clientes, transacciones y comportamiento en una sola plataforma, permitiendo analizar datos en tiempo real. Esto facilita identificar patrones de consumo, evaluar el rendimiento del programa y optimizar las estrategias de fidelización de manera continua.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2872AD-4E64-1EF7-FA98-1A2AC0DD1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0625" y="98323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11" y="98323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7" name="Google Shape;227;p23"/>
          <p:cNvGraphicFramePr/>
          <p:nvPr>
            <p:extLst>
              <p:ext uri="{D42A27DB-BD31-4B8C-83A1-F6EECF244321}">
                <p14:modId xmlns:p14="http://schemas.microsoft.com/office/powerpoint/2010/main" val="4134881936"/>
              </p:ext>
            </p:extLst>
          </p:nvPr>
        </p:nvGraphicFramePr>
        <p:xfrm>
          <a:off x="761999" y="2678906"/>
          <a:ext cx="10668000" cy="3810000"/>
        </p:xfrm>
        <a:graphic>
          <a:graphicData uri="http://schemas.openxmlformats.org/drawingml/2006/table">
            <a:tbl>
              <a:tblPr firstRow="1" bandRow="1">
                <a:noFill/>
                <a:tableStyleId>{336D6092-765B-4CEC-ABEF-B2EEAAD413FC}</a:tableStyleId>
              </a:tblPr>
              <a:tblGrid>
                <a:gridCol w="730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Servicio</a:t>
                      </a:r>
                      <a:endParaRPr sz="1600" dirty="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Inversión</a:t>
                      </a:r>
                      <a:endParaRPr sz="160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Cuota</a:t>
                      </a:r>
                      <a:r>
                        <a:rPr lang="en-US" sz="2000" b="0" i="0" u="none" strike="noStrike" cap="none" dirty="0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Mensual</a:t>
                      </a:r>
                      <a:r>
                        <a:rPr lang="en-US" sz="2000" b="0" i="0" u="none" strike="noStrike" cap="none" dirty="0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</a:t>
                      </a:r>
                      <a:r>
                        <a:rPr lang="en-US" sz="2000" b="0" i="0" u="none" strike="noStrike" cap="none" dirty="0" err="1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Suscripción</a:t>
                      </a:r>
                      <a:r>
                        <a:rPr lang="en-US" sz="2000" b="0" i="0" u="none" strike="noStrike" cap="none" dirty="0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sz="1600" dirty="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$65 + I.V.A</a:t>
                      </a:r>
                      <a:endParaRPr sz="1600" dirty="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Punto de Venta Adicional</a:t>
                      </a:r>
                      <a:endParaRPr sz="160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$10 adicional</a:t>
                      </a:r>
                      <a:endParaRPr sz="160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Creación de Tarjetas y Diseño QR</a:t>
                      </a:r>
                      <a:endParaRPr sz="160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Incluido</a:t>
                      </a:r>
                      <a:endParaRPr sz="1600" dirty="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Capacitación y Soporte Chat</a:t>
                      </a:r>
                      <a:endParaRPr sz="160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chemeClr val="accent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Ilimitado</a:t>
                      </a:r>
                      <a:endParaRPr sz="1600" dirty="0">
                        <a:solidFill>
                          <a:schemeClr val="accent6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8" name="Google Shape;228;p23"/>
          <p:cNvSpPr/>
          <p:nvPr/>
        </p:nvSpPr>
        <p:spPr>
          <a:xfrm>
            <a:off x="762000" y="2805112"/>
            <a:ext cx="7304484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8066484" y="2805112"/>
            <a:ext cx="336351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762000" y="3567112"/>
            <a:ext cx="7304484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8066484" y="3567112"/>
            <a:ext cx="336351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62000" y="4329112"/>
            <a:ext cx="7304484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8066484" y="4329112"/>
            <a:ext cx="336351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762000" y="5091112"/>
            <a:ext cx="7304484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8066484" y="5091112"/>
            <a:ext cx="336351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762000" y="5853112"/>
            <a:ext cx="7304484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8066484" y="5853112"/>
            <a:ext cx="3363515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761999" y="304579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INVERSIÓN Y DETALLES</a:t>
            </a:r>
            <a:endParaRPr dirty="0"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822272CB-6D1A-3F37-E2EB-1CB5F36972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2953" y="976167"/>
            <a:ext cx="10806092" cy="15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3BF3D09-B0DD-1594-C9E6-B5F46A14D39E}"/>
              </a:ext>
            </a:extLst>
          </p:cNvPr>
          <p:cNvSpPr txBox="1"/>
          <p:nvPr/>
        </p:nvSpPr>
        <p:spPr>
          <a:xfrm>
            <a:off x="842247" y="1202385"/>
            <a:ext cx="10318755" cy="112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40000"/>
              </a:lnSpc>
            </a:pPr>
            <a:r>
              <a:rPr lang="es-ES" sz="1650" dirty="0" err="1">
                <a:solidFill>
                  <a:srgbClr val="A1A1AA"/>
                </a:solidFill>
                <a:latin typeface="Inter"/>
                <a:ea typeface="Inter"/>
              </a:rPr>
              <a:t>Loyallia</a:t>
            </a:r>
            <a:r>
              <a:rPr lang="es-ES" sz="1650" dirty="0">
                <a:solidFill>
                  <a:srgbClr val="A1A1AA"/>
                </a:solidFill>
                <a:latin typeface="Inter"/>
                <a:ea typeface="Inter"/>
              </a:rPr>
              <a:t> ofrece una solución escalable que permite a los negocios implementar tecnología avanzada de fidelización sin necesidad de grandes inversiones iniciales, adaptándose a su tamaño, operación y nivel de crecimiento.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D5A3B7-1F66-F116-4831-0C2C3E7F5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625" y="98323"/>
            <a:ext cx="1608886" cy="13966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800" y="4229100"/>
            <a:ext cx="1143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495300" y="571500"/>
            <a:ext cx="11201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¿Listo para empezar?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495300" y="4545330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Hagamos</a:t>
            </a:r>
            <a:r>
              <a:rPr lang="en-US" sz="240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un demo hoy </a:t>
            </a:r>
            <a:r>
              <a:rPr lang="en-US" sz="240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mismo</a:t>
            </a:r>
            <a:r>
              <a:rPr lang="en-US" sz="240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47" name="Google Shape;247;p24"/>
          <p:cNvSpPr txBox="1"/>
          <p:nvPr/>
        </p:nvSpPr>
        <p:spPr>
          <a:xfrm>
            <a:off x="495300" y="5448270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Escanee</a:t>
            </a:r>
            <a:r>
              <a:rPr lang="en-US" sz="210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210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ver</a:t>
            </a:r>
            <a:r>
              <a:rPr lang="en-US" sz="210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00" b="0" i="0" u="none" strike="noStrike" cap="none" dirty="0" err="1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ejemplos</a:t>
            </a:r>
            <a:r>
              <a:rPr lang="en-US" sz="2100" b="0" i="0" u="none" strike="noStrike" cap="none" dirty="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 reales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1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Powered by </a:t>
            </a:r>
            <a:r>
              <a:rPr lang="en-US" sz="2100" b="1" i="0" u="none" strike="noStrike" cap="none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Devotio</a:t>
            </a:r>
            <a:r>
              <a:rPr lang="en-US" sz="2100" b="1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Rewards</a:t>
            </a:r>
            <a:endParaRPr dirty="0"/>
          </a:p>
        </p:txBody>
      </p:sp>
      <p:pic>
        <p:nvPicPr>
          <p:cNvPr id="248" name="Google Shape;24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5197" y="544827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50CF373-87DA-4C4A-DF54-4F4385E3EA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8413"/>
          <a:stretch>
            <a:fillRect/>
          </a:stretch>
        </p:blipFill>
        <p:spPr>
          <a:xfrm>
            <a:off x="3771900" y="1013527"/>
            <a:ext cx="4114800" cy="30555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795</Words>
  <Application>Microsoft Office PowerPoint</Application>
  <PresentationFormat>Widescreen</PresentationFormat>
  <Paragraphs>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Inter</vt:lpstr>
      <vt:lpstr>Poppins</vt:lpstr>
      <vt:lpstr>Inter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Roberto Manosalvas</dc:creator>
  <cp:lastModifiedBy>Roberto Manosalvas</cp:lastModifiedBy>
  <cp:revision>4</cp:revision>
  <dcterms:modified xsi:type="dcterms:W3CDTF">2026-03-24T22:33:16Z</dcterms:modified>
</cp:coreProperties>
</file>